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Kresser" userId="6239b4f0b95ea466" providerId="LiveId" clId="{61C80E82-EC96-4668-A2AA-2AE0A88FD26E}"/>
    <pc:docChg chg="undo custSel modSld">
      <pc:chgData name="Robert Kresser" userId="6239b4f0b95ea466" providerId="LiveId" clId="{61C80E82-EC96-4668-A2AA-2AE0A88FD26E}" dt="2026-03-05T23:16:25.303" v="88" actId="13926"/>
      <pc:docMkLst>
        <pc:docMk/>
      </pc:docMkLst>
      <pc:sldChg chg="modSp mod">
        <pc:chgData name="Robert Kresser" userId="6239b4f0b95ea466" providerId="LiveId" clId="{61C80E82-EC96-4668-A2AA-2AE0A88FD26E}" dt="2026-03-05T23:15:35.339" v="61" actId="13926"/>
        <pc:sldMkLst>
          <pc:docMk/>
          <pc:sldMk cId="0" sldId="259"/>
        </pc:sldMkLst>
        <pc:spChg chg="mod">
          <ac:chgData name="Robert Kresser" userId="6239b4f0b95ea466" providerId="LiveId" clId="{61C80E82-EC96-4668-A2AA-2AE0A88FD26E}" dt="2026-03-05T23:15:35.339" v="61" actId="1392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Robert Kresser" userId="6239b4f0b95ea466" providerId="LiveId" clId="{61C80E82-EC96-4668-A2AA-2AE0A88FD26E}" dt="2026-03-05T23:16:25.303" v="88" actId="13926"/>
        <pc:sldMkLst>
          <pc:docMk/>
          <pc:sldMk cId="0" sldId="263"/>
        </pc:sldMkLst>
        <pc:spChg chg="mod">
          <ac:chgData name="Robert Kresser" userId="6239b4f0b95ea466" providerId="LiveId" clId="{61C80E82-EC96-4668-A2AA-2AE0A88FD26E}" dt="2026-03-05T23:16:25.303" v="88" actId="13926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76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8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60291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305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90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0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25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4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94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7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1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0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685800"/>
            <a:ext cx="7063740" cy="2743200"/>
          </a:xfrm>
        </p:spPr>
        <p:txBody>
          <a:bodyPr>
            <a:normAutofit/>
          </a:bodyPr>
          <a:lstStyle/>
          <a:p>
            <a:r>
              <a:rPr dirty="0"/>
              <a:t>CNN MNIST Model Variations and Comparison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0130" y="3447288"/>
            <a:ext cx="7063740" cy="2523744"/>
          </a:xfrm>
        </p:spPr>
        <p:txBody>
          <a:bodyPr>
            <a:noAutofit/>
          </a:bodyPr>
          <a:lstStyle/>
          <a:p>
            <a:r>
              <a:rPr sz="1100" dirty="0"/>
              <a:t>IN501 Unit 9 Assignment</a:t>
            </a:r>
          </a:p>
          <a:p>
            <a:r>
              <a:rPr sz="1100" dirty="0"/>
              <a:t>Group Members: </a:t>
            </a:r>
            <a:endParaRPr lang="en-US" sz="1100" dirty="0"/>
          </a:p>
          <a:p>
            <a:r>
              <a:rPr lang="en-US" sz="1100" dirty="0"/>
              <a:t>Jamie Ridenour</a:t>
            </a:r>
          </a:p>
          <a:p>
            <a:r>
              <a:rPr lang="en-US" sz="1100" dirty="0"/>
              <a:t>Robert Kresser</a:t>
            </a:r>
          </a:p>
          <a:p>
            <a:r>
              <a:rPr lang="en-US" sz="1100" dirty="0"/>
              <a:t>Lane Meadows</a:t>
            </a:r>
          </a:p>
          <a:p>
            <a:r>
              <a:rPr lang="en-US" sz="1100" dirty="0"/>
              <a:t>Francisca </a:t>
            </a:r>
            <a:r>
              <a:rPr lang="en-US" sz="1100" dirty="0" err="1"/>
              <a:t>Mpianing</a:t>
            </a:r>
            <a:endParaRPr lang="en-US" sz="1100" dirty="0"/>
          </a:p>
          <a:p>
            <a:r>
              <a:rPr lang="en-US" sz="1100" dirty="0"/>
              <a:t>Marie Galarza</a:t>
            </a:r>
            <a:endParaRPr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260" y="256032"/>
            <a:ext cx="7269480" cy="667194"/>
          </a:xfrm>
        </p:spPr>
        <p:txBody>
          <a:bodyPr/>
          <a:lstStyle/>
          <a:p>
            <a:r>
              <a:rPr dirty="0"/>
              <a:t>Baseline CNN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014985"/>
            <a:ext cx="6446520" cy="5705855"/>
          </a:xfrm>
        </p:spPr>
        <p:txBody>
          <a:bodyPr>
            <a:noAutofit/>
          </a:bodyPr>
          <a:lstStyle/>
          <a:p>
            <a:r>
              <a:rPr sz="1100" dirty="0"/>
              <a:t>Dataset: MNIST handwritten digit dataset</a:t>
            </a:r>
          </a:p>
          <a:p>
            <a:r>
              <a:rPr sz="1100" dirty="0"/>
              <a:t>Architecture: Sequential CNN</a:t>
            </a:r>
          </a:p>
          <a:p>
            <a:r>
              <a:rPr sz="1100" dirty="0"/>
              <a:t>- Conv2D (32 filters)</a:t>
            </a:r>
          </a:p>
          <a:p>
            <a:r>
              <a:rPr sz="1100" dirty="0"/>
              <a:t>- </a:t>
            </a:r>
            <a:r>
              <a:rPr sz="1100" dirty="0" err="1"/>
              <a:t>MaxPooling</a:t>
            </a:r>
            <a:endParaRPr sz="1100" dirty="0"/>
          </a:p>
          <a:p>
            <a:r>
              <a:rPr sz="1100" dirty="0"/>
              <a:t>- Conv2D (64 filters)</a:t>
            </a:r>
          </a:p>
          <a:p>
            <a:r>
              <a:rPr sz="1100" dirty="0"/>
              <a:t>- </a:t>
            </a:r>
            <a:r>
              <a:rPr sz="1100" dirty="0" err="1"/>
              <a:t>MaxPooling</a:t>
            </a:r>
            <a:endParaRPr sz="1100" dirty="0"/>
          </a:p>
          <a:p>
            <a:r>
              <a:rPr sz="1100" dirty="0"/>
              <a:t>- Flatten</a:t>
            </a:r>
          </a:p>
          <a:p>
            <a:r>
              <a:rPr sz="1100" dirty="0"/>
              <a:t>- Dense layers</a:t>
            </a:r>
          </a:p>
          <a:p>
            <a:endParaRPr sz="1100" dirty="0"/>
          </a:p>
          <a:p>
            <a:r>
              <a:rPr sz="1100" dirty="0"/>
              <a:t>Training Setup:</a:t>
            </a:r>
          </a:p>
          <a:p>
            <a:r>
              <a:rPr sz="1100" dirty="0"/>
              <a:t>- Optimizer: Adam</a:t>
            </a:r>
          </a:p>
          <a:p>
            <a:r>
              <a:rPr sz="1100" dirty="0"/>
              <a:t>- Epochs: 5</a:t>
            </a:r>
          </a:p>
          <a:p>
            <a:endParaRPr sz="1100" dirty="0"/>
          </a:p>
          <a:p>
            <a:r>
              <a:rPr sz="1100" dirty="0"/>
              <a:t>Results:</a:t>
            </a:r>
          </a:p>
          <a:p>
            <a:r>
              <a:rPr sz="1100" dirty="0"/>
              <a:t>Test Loss: </a:t>
            </a:r>
            <a:r>
              <a:rPr lang="en-US" sz="1100" dirty="0"/>
              <a:t>0.0403</a:t>
            </a:r>
          </a:p>
          <a:p>
            <a:r>
              <a:rPr sz="1100" dirty="0"/>
              <a:t>Test Accuracy: </a:t>
            </a:r>
            <a:r>
              <a:rPr lang="en-US" sz="1100" dirty="0"/>
              <a:t>0.9883</a:t>
            </a:r>
            <a:endParaRPr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Variation 1 – Increased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20825"/>
            <a:ext cx="6446520" cy="4351337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Member: </a:t>
            </a:r>
            <a:r>
              <a:rPr lang="en-US" dirty="0"/>
              <a:t>Lane Meadows</a:t>
            </a:r>
            <a:endParaRPr dirty="0"/>
          </a:p>
          <a:p>
            <a:r>
              <a:rPr dirty="0"/>
              <a:t>Parameter Changed: Conv2D filters increased from 32 to 64</a:t>
            </a:r>
          </a:p>
          <a:p>
            <a:endParaRPr dirty="0"/>
          </a:p>
          <a:p>
            <a:r>
              <a:rPr dirty="0"/>
              <a:t>Hypothesis:</a:t>
            </a:r>
          </a:p>
          <a:p>
            <a:r>
              <a:rPr dirty="0"/>
              <a:t>More filters allow the network to detect more image features.</a:t>
            </a:r>
          </a:p>
          <a:p>
            <a:r>
              <a:rPr dirty="0"/>
              <a:t>Expected slightly higher accuracy but longer training time.</a:t>
            </a:r>
          </a:p>
          <a:p>
            <a:endParaRPr dirty="0"/>
          </a:p>
          <a:p>
            <a:r>
              <a:rPr dirty="0"/>
              <a:t>Results:</a:t>
            </a:r>
          </a:p>
          <a:p>
            <a:r>
              <a:rPr dirty="0"/>
              <a:t>Accuracy:</a:t>
            </a:r>
            <a:r>
              <a:rPr lang="en-US" dirty="0"/>
              <a:t> 0.9907</a:t>
            </a:r>
            <a:endParaRPr dirty="0">
              <a:highlight>
                <a:srgbClr val="FFFF00"/>
              </a:highlight>
            </a:endParaRPr>
          </a:p>
          <a:p>
            <a:r>
              <a:rPr dirty="0"/>
              <a:t>Observation</a:t>
            </a:r>
            <a:r>
              <a:rPr lang="en-US" dirty="0"/>
              <a:t>: Increased accuracy of 0.0024</a:t>
            </a:r>
            <a:endParaRPr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Variation 2 – Dropout Layer Added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39113"/>
            <a:ext cx="6446520" cy="4351337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Member: </a:t>
            </a:r>
            <a:r>
              <a:rPr lang="en-US" dirty="0"/>
              <a:t>Robert Kresser</a:t>
            </a:r>
            <a:endParaRPr dirty="0"/>
          </a:p>
          <a:p>
            <a:r>
              <a:rPr dirty="0"/>
              <a:t>Parameter Changed: Added Dropout layer (0.3)</a:t>
            </a:r>
          </a:p>
          <a:p>
            <a:endParaRPr dirty="0"/>
          </a:p>
          <a:p>
            <a:r>
              <a:rPr dirty="0"/>
              <a:t>Hypothesis:</a:t>
            </a:r>
          </a:p>
          <a:p>
            <a:r>
              <a:rPr dirty="0"/>
              <a:t>Dropout reduces overfitting by randomly disabling neurons</a:t>
            </a:r>
          </a:p>
          <a:p>
            <a:r>
              <a:rPr dirty="0"/>
              <a:t>during training, improving generalization.</a:t>
            </a:r>
          </a:p>
          <a:p>
            <a:endParaRPr dirty="0"/>
          </a:p>
          <a:p>
            <a:r>
              <a:rPr dirty="0"/>
              <a:t>Results:</a:t>
            </a:r>
          </a:p>
          <a:p>
            <a:r>
              <a:rPr dirty="0"/>
              <a:t>Accuracy: </a:t>
            </a:r>
            <a:r>
              <a:rPr lang="en-US" dirty="0"/>
              <a:t>0.9924</a:t>
            </a:r>
            <a:endParaRPr dirty="0"/>
          </a:p>
          <a:p>
            <a:r>
              <a:rPr dirty="0"/>
              <a:t>Observation: </a:t>
            </a:r>
            <a:r>
              <a:rPr lang="en-US" dirty="0"/>
              <a:t>Increased accuracy of .0041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Variation 3 – Increased Epochs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11681"/>
            <a:ext cx="6446520" cy="4351337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Member: </a:t>
            </a:r>
            <a:r>
              <a:rPr lang="en-US" dirty="0"/>
              <a:t>Francisca </a:t>
            </a:r>
            <a:r>
              <a:rPr lang="en-US" dirty="0" err="1"/>
              <a:t>Mpianing</a:t>
            </a:r>
            <a:endParaRPr lang="en-US" dirty="0"/>
          </a:p>
          <a:p>
            <a:r>
              <a:rPr dirty="0"/>
              <a:t>Parameter Changed: Increased epochs from 5 to 10</a:t>
            </a:r>
          </a:p>
          <a:p>
            <a:endParaRPr dirty="0"/>
          </a:p>
          <a:p>
            <a:r>
              <a:rPr dirty="0"/>
              <a:t>Hypothesis:</a:t>
            </a:r>
          </a:p>
          <a:p>
            <a:r>
              <a:rPr dirty="0"/>
              <a:t>More training cycles allow the model to learn patterns better</a:t>
            </a:r>
          </a:p>
          <a:p>
            <a:r>
              <a:rPr dirty="0"/>
              <a:t>but increase training time.</a:t>
            </a:r>
          </a:p>
          <a:p>
            <a:endParaRPr dirty="0"/>
          </a:p>
          <a:p>
            <a:r>
              <a:rPr dirty="0"/>
              <a:t>Results:</a:t>
            </a:r>
          </a:p>
          <a:p>
            <a:r>
              <a:rPr dirty="0"/>
              <a:t>Accuracy: </a:t>
            </a:r>
            <a:r>
              <a:rPr dirty="0">
                <a:highlight>
                  <a:srgbClr val="FFFF00"/>
                </a:highlight>
              </a:rPr>
              <a:t>(Insert result)</a:t>
            </a:r>
          </a:p>
          <a:p>
            <a:r>
              <a:rPr dirty="0"/>
              <a:t>Observation: </a:t>
            </a:r>
            <a:r>
              <a:rPr dirty="0">
                <a:highlight>
                  <a:srgbClr val="FFFF00"/>
                </a:highlight>
              </a:rPr>
              <a:t>(Insert comparison)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Variation 4 – Optimizer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11681"/>
            <a:ext cx="6446520" cy="4351337"/>
          </a:xfrm>
        </p:spPr>
        <p:txBody>
          <a:bodyPr>
            <a:normAutofit lnSpcReduction="10000"/>
          </a:bodyPr>
          <a:lstStyle/>
          <a:p>
            <a:r>
              <a:rPr dirty="0"/>
              <a:t>Member: </a:t>
            </a:r>
            <a:r>
              <a:rPr lang="en-US" dirty="0"/>
              <a:t>Marie Galarza</a:t>
            </a:r>
          </a:p>
          <a:p>
            <a:r>
              <a:rPr dirty="0"/>
              <a:t>Parameter Changed: Adam optimizer replaced with SGD</a:t>
            </a:r>
          </a:p>
          <a:p>
            <a:endParaRPr dirty="0"/>
          </a:p>
          <a:p>
            <a:r>
              <a:rPr dirty="0"/>
              <a:t>Hypothesis:</a:t>
            </a:r>
          </a:p>
          <a:p>
            <a:r>
              <a:rPr dirty="0"/>
              <a:t>SGD may train slower but can produce stable learning results.</a:t>
            </a:r>
          </a:p>
          <a:p>
            <a:endParaRPr dirty="0"/>
          </a:p>
          <a:p>
            <a:r>
              <a:rPr dirty="0"/>
              <a:t>Results:</a:t>
            </a:r>
          </a:p>
          <a:p>
            <a:r>
              <a:rPr dirty="0"/>
              <a:t>Accuracy: </a:t>
            </a:r>
            <a:r>
              <a:rPr dirty="0">
                <a:highlight>
                  <a:srgbClr val="FFFF00"/>
                </a:highlight>
              </a:rPr>
              <a:t>(Insert result)</a:t>
            </a:r>
          </a:p>
          <a:p>
            <a:r>
              <a:rPr dirty="0"/>
              <a:t>Observation: </a:t>
            </a:r>
            <a:r>
              <a:rPr dirty="0">
                <a:highlight>
                  <a:srgbClr val="FFFF00"/>
                </a:highlight>
              </a:rPr>
              <a:t>(Insert comparison)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Variation 5 – Additional Convolution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993393"/>
            <a:ext cx="6446520" cy="4351337"/>
          </a:xfrm>
        </p:spPr>
        <p:txBody>
          <a:bodyPr>
            <a:normAutofit/>
          </a:bodyPr>
          <a:lstStyle/>
          <a:p>
            <a:r>
              <a:rPr dirty="0"/>
              <a:t>Member: </a:t>
            </a:r>
            <a:r>
              <a:rPr lang="en-US" dirty="0"/>
              <a:t>Jamie Ridenour</a:t>
            </a:r>
            <a:endParaRPr dirty="0"/>
          </a:p>
          <a:p>
            <a:r>
              <a:rPr dirty="0"/>
              <a:t>Parameter Changed: Added third Conv2D layer</a:t>
            </a:r>
          </a:p>
          <a:p>
            <a:endParaRPr dirty="0"/>
          </a:p>
          <a:p>
            <a:r>
              <a:rPr dirty="0"/>
              <a:t>Hypothesis:</a:t>
            </a:r>
          </a:p>
          <a:p>
            <a:r>
              <a:rPr dirty="0"/>
              <a:t>Additional convolution layers allow the network to detect</a:t>
            </a:r>
            <a:r>
              <a:rPr lang="en-US" dirty="0"/>
              <a:t> </a:t>
            </a:r>
            <a:r>
              <a:rPr dirty="0"/>
              <a:t>more complex image patterns.</a:t>
            </a:r>
          </a:p>
          <a:p>
            <a:endParaRPr dirty="0"/>
          </a:p>
          <a:p>
            <a:r>
              <a:rPr dirty="0"/>
              <a:t>Results:</a:t>
            </a:r>
          </a:p>
          <a:p>
            <a:r>
              <a:rPr dirty="0"/>
              <a:t>Accuracy: </a:t>
            </a:r>
            <a:r>
              <a:rPr lang="en-US" dirty="0"/>
              <a:t>0.9871 </a:t>
            </a:r>
          </a:p>
          <a:p>
            <a:r>
              <a:rPr dirty="0"/>
              <a:t>Observation: </a:t>
            </a:r>
            <a:r>
              <a:rPr lang="en-US" dirty="0"/>
              <a:t>Decrease accuracy of 0.0012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26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0"/>
            <a:ext cx="2802142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898" y="643466"/>
            <a:ext cx="2319539" cy="5528734"/>
          </a:xfrm>
          <a:noFill/>
        </p:spPr>
        <p:txBody>
          <a:bodyPr anchor="t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Final Model Comparison and Key Findings</a:t>
            </a: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4740" y="0"/>
            <a:ext cx="518488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6423" y="256032"/>
            <a:ext cx="4370604" cy="6355080"/>
          </a:xfrm>
        </p:spPr>
        <p:txBody>
          <a:bodyPr>
            <a:normAutofit/>
          </a:bodyPr>
          <a:lstStyle/>
          <a:p>
            <a:r>
              <a:rPr lang="en-US" sz="1100" dirty="0"/>
              <a:t>Model Comparison:</a:t>
            </a:r>
          </a:p>
          <a:p>
            <a:r>
              <a:rPr lang="en-US" sz="1100" dirty="0"/>
              <a:t>Baseline Model – 0.9883</a:t>
            </a:r>
          </a:p>
          <a:p>
            <a:r>
              <a:rPr lang="en-US" sz="1100" dirty="0"/>
              <a:t>Variation 1 – Increased Filters: 0.9907</a:t>
            </a:r>
            <a:endParaRPr lang="en-US" sz="1100" dirty="0">
              <a:highlight>
                <a:srgbClr val="FFFF00"/>
              </a:highlight>
            </a:endParaRPr>
          </a:p>
          <a:p>
            <a:r>
              <a:rPr lang="en-US" sz="1100" dirty="0"/>
              <a:t>Variation 2 – Dropout: 0.9924</a:t>
            </a:r>
          </a:p>
          <a:p>
            <a:r>
              <a:rPr lang="en-US" sz="1100" dirty="0"/>
              <a:t>Variation 3 – More Epochs: </a:t>
            </a:r>
            <a:r>
              <a:rPr lang="en-US" sz="1100" dirty="0">
                <a:highlight>
                  <a:srgbClr val="FFFF00"/>
                </a:highlight>
              </a:rPr>
              <a:t>(Insert accuracy)</a:t>
            </a:r>
          </a:p>
          <a:p>
            <a:r>
              <a:rPr lang="en-US" sz="1100" dirty="0"/>
              <a:t>Variation 4 – SGD Optimizer: </a:t>
            </a:r>
            <a:r>
              <a:rPr lang="en-US" sz="1100" dirty="0">
                <a:highlight>
                  <a:srgbClr val="FFFF00"/>
                </a:highlight>
              </a:rPr>
              <a:t>(Insert accuracy)</a:t>
            </a:r>
          </a:p>
          <a:p>
            <a:r>
              <a:rPr lang="en-US" sz="1100" dirty="0"/>
              <a:t>Variation 5 – Extra Conv Layer: 0.9871</a:t>
            </a:r>
          </a:p>
          <a:p>
            <a:endParaRPr lang="en-US" sz="1100" dirty="0"/>
          </a:p>
          <a:p>
            <a:r>
              <a:rPr lang="en-US" sz="1100" dirty="0"/>
              <a:t>Key Findings:</a:t>
            </a:r>
          </a:p>
          <a:p>
            <a:r>
              <a:rPr lang="en-US" sz="1100" dirty="0"/>
              <a:t>- Increasing model complexity improved feature detection.</a:t>
            </a:r>
          </a:p>
          <a:p>
            <a:r>
              <a:rPr lang="en-US" sz="1100" dirty="0"/>
              <a:t>- Dropout helped reduce overfitting.</a:t>
            </a:r>
          </a:p>
          <a:p>
            <a:r>
              <a:rPr lang="en-US" sz="1100" dirty="0"/>
              <a:t>- Additional epochs improved learning but increased training time.</a:t>
            </a:r>
          </a:p>
          <a:p>
            <a:r>
              <a:rPr lang="en-US" sz="1100" dirty="0"/>
              <a:t>- Different optimizers affected training speed and stability.</a:t>
            </a:r>
          </a:p>
          <a:p>
            <a:endParaRPr lang="en-US" sz="1100" dirty="0"/>
          </a:p>
          <a:p>
            <a:r>
              <a:rPr lang="en-US" sz="1100" dirty="0"/>
              <a:t>Conclusion:</a:t>
            </a:r>
          </a:p>
          <a:p>
            <a:r>
              <a:rPr lang="en-US" sz="1100" dirty="0"/>
              <a:t>CNN performance is highly dependent on parameter tuning. Balancing model complexity, accuracy, and training time is essential.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t>Lessons Learned and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920240"/>
            <a:ext cx="6446520" cy="4351337"/>
          </a:xfrm>
        </p:spPr>
        <p:txBody>
          <a:bodyPr>
            <a:normAutofit/>
          </a:bodyPr>
          <a:lstStyle/>
          <a:p>
            <a:r>
              <a:rPr lang="en-US" sz="1500" dirty="0"/>
              <a:t>Lessons Learned:</a:t>
            </a:r>
          </a:p>
          <a:p>
            <a:r>
              <a:rPr lang="en-US" sz="1500" dirty="0"/>
              <a:t>- CNNs are effective for image classification tasks.</a:t>
            </a:r>
          </a:p>
          <a:p>
            <a:r>
              <a:rPr lang="en-US" sz="1500" dirty="0"/>
              <a:t>- Small parameter changes can significantly impact performance.</a:t>
            </a:r>
          </a:p>
          <a:p>
            <a:r>
              <a:rPr lang="en-US" sz="1500" dirty="0"/>
              <a:t>- Proper tuning improves both accuracy and model generalization.</a:t>
            </a:r>
          </a:p>
          <a:p>
            <a:endParaRPr lang="en-US" sz="1500" dirty="0"/>
          </a:p>
          <a:p>
            <a:r>
              <a:rPr lang="en-US" sz="1500" dirty="0"/>
              <a:t>Future Improvements:</a:t>
            </a:r>
          </a:p>
          <a:p>
            <a:r>
              <a:rPr lang="en-US" sz="1500" dirty="0"/>
              <a:t>- Experiment with deeper CNN architectures</a:t>
            </a:r>
          </a:p>
          <a:p>
            <a:r>
              <a:rPr lang="en-US" sz="1500" dirty="0"/>
              <a:t>- Use data augmentation techniques</a:t>
            </a:r>
          </a:p>
          <a:p>
            <a:r>
              <a:rPr lang="en-US" sz="1500" dirty="0"/>
              <a:t>- Try different optimizers and learning rates</a:t>
            </a:r>
          </a:p>
          <a:p>
            <a:r>
              <a:rPr lang="en-US" sz="1500" dirty="0"/>
              <a:t>- Train for additional epochs with early stopping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55</TotalTime>
  <Words>490</Words>
  <Application>Microsoft Office PowerPoint</Application>
  <PresentationFormat>On-screen Show (4:3)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Schoolbook</vt:lpstr>
      <vt:lpstr>Wingdings 2</vt:lpstr>
      <vt:lpstr>View</vt:lpstr>
      <vt:lpstr>CNN MNIST Model Variations and Comparison</vt:lpstr>
      <vt:lpstr>Baseline CNN Model</vt:lpstr>
      <vt:lpstr>Variation 1 – Increased Filters</vt:lpstr>
      <vt:lpstr>Variation 2 – Dropout Layer Added</vt:lpstr>
      <vt:lpstr>Variation 3 – Increased Epochs</vt:lpstr>
      <vt:lpstr>Variation 4 – Optimizer Changed</vt:lpstr>
      <vt:lpstr>Variation 5 – Additional Convolution Layer</vt:lpstr>
      <vt:lpstr>Final Model Comparison and Key Findings</vt:lpstr>
      <vt:lpstr>Lessons Learned and 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Jamie Ridenour</dc:creator>
  <cp:keywords/>
  <dc:description>generated using python-pptx</dc:description>
  <cp:lastModifiedBy>Lane Meadows</cp:lastModifiedBy>
  <cp:revision>11</cp:revision>
  <dcterms:created xsi:type="dcterms:W3CDTF">2013-01-27T09:14:16Z</dcterms:created>
  <dcterms:modified xsi:type="dcterms:W3CDTF">2026-03-09T23:16:07Z</dcterms:modified>
  <cp:category/>
</cp:coreProperties>
</file>