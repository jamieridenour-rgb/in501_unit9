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79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12" d="100"/>
          <a:sy n="112" d="100"/>
        </p:scale>
        <p:origin x="1584" y="32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6/11/relationships/changesInfo" Target="changesInfos/changesInfo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obert Kresser" userId="6239b4f0b95ea466" providerId="LiveId" clId="{61C80E82-EC96-4668-A2AA-2AE0A88FD26E}"/>
    <pc:docChg chg="undo custSel modSld">
      <pc:chgData name="Robert Kresser" userId="6239b4f0b95ea466" providerId="LiveId" clId="{61C80E82-EC96-4668-A2AA-2AE0A88FD26E}" dt="2026-03-05T23:16:25.303" v="88" actId="13926"/>
      <pc:docMkLst>
        <pc:docMk/>
      </pc:docMkLst>
      <pc:sldChg chg="modSp mod">
        <pc:chgData name="Robert Kresser" userId="6239b4f0b95ea466" providerId="LiveId" clId="{61C80E82-EC96-4668-A2AA-2AE0A88FD26E}" dt="2026-03-05T23:15:35.339" v="61" actId="13926"/>
        <pc:sldMkLst>
          <pc:docMk/>
          <pc:sldMk cId="0" sldId="259"/>
        </pc:sldMkLst>
        <pc:spChg chg="mod">
          <ac:chgData name="Robert Kresser" userId="6239b4f0b95ea466" providerId="LiveId" clId="{61C80E82-EC96-4668-A2AA-2AE0A88FD26E}" dt="2026-03-05T23:15:35.339" v="61" actId="13926"/>
          <ac:spMkLst>
            <pc:docMk/>
            <pc:sldMk cId="0" sldId="259"/>
            <ac:spMk id="3" creationId="{00000000-0000-0000-0000-000000000000}"/>
          </ac:spMkLst>
        </pc:spChg>
      </pc:sldChg>
      <pc:sldChg chg="modSp mod">
        <pc:chgData name="Robert Kresser" userId="6239b4f0b95ea466" providerId="LiveId" clId="{61C80E82-EC96-4668-A2AA-2AE0A88FD26E}" dt="2026-03-05T23:16:25.303" v="88" actId="13926"/>
        <pc:sldMkLst>
          <pc:docMk/>
          <pc:sldMk cId="0" sldId="263"/>
        </pc:sldMkLst>
        <pc:spChg chg="mod">
          <ac:chgData name="Robert Kresser" userId="6239b4f0b95ea466" providerId="LiveId" clId="{61C80E82-EC96-4668-A2AA-2AE0A88FD26E}" dt="2026-03-05T23:16:25.303" v="88" actId="13926"/>
          <ac:spMkLst>
            <pc:docMk/>
            <pc:sldMk cId="0" sldId="263"/>
            <ac:spMk id="3" creationId="{00000000-0000-0000-0000-000000000000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>
      <p:bgPr>
        <a:solidFill>
          <a:schemeClr val="bg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46404" y="758952"/>
            <a:ext cx="7063740" cy="4041648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660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46404" y="4800600"/>
            <a:ext cx="7063740" cy="1691640"/>
          </a:xfrm>
        </p:spPr>
        <p:txBody>
          <a:bodyPr>
            <a:normAutofit/>
          </a:bodyPr>
          <a:lstStyle>
            <a:lvl1pPr marL="0" indent="0" algn="l">
              <a:buNone/>
              <a:defRPr sz="2000" baseline="0">
                <a:solidFill>
                  <a:schemeClr val="tx1">
                    <a:lumMod val="8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20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3429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2">
                    <a:lumMod val="20000"/>
                    <a:lumOff val="80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2">
                    <a:lumMod val="20000"/>
                    <a:lumOff val="8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2">
                    <a:lumMod val="60000"/>
                    <a:lumOff val="40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497650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01808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6404" y="758952"/>
            <a:ext cx="7063740" cy="4041648"/>
          </a:xfrm>
        </p:spPr>
        <p:txBody>
          <a:bodyPr anchor="b">
            <a:normAutofit/>
          </a:bodyPr>
          <a:lstStyle>
            <a:lvl1pPr>
              <a:lnSpc>
                <a:spcPct val="85000"/>
              </a:lnSpc>
              <a:defRPr sz="6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46404" y="4800600"/>
            <a:ext cx="7063740" cy="1691640"/>
          </a:xfrm>
        </p:spPr>
        <p:txBody>
          <a:bodyPr anchor="t">
            <a:normAutofit/>
          </a:bodyPr>
          <a:lstStyle>
            <a:lvl1pPr marL="0" indent="0"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3429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15602918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46404" y="1828801"/>
            <a:ext cx="3360420" cy="4351337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94860" y="1828801"/>
            <a:ext cx="3360420" cy="4351337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73056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46404" y="1717185"/>
            <a:ext cx="3360420" cy="731520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1800" b="0">
                <a:solidFill>
                  <a:schemeClr val="tx2"/>
                </a:solidFill>
              </a:defRPr>
            </a:lvl1pPr>
            <a:lvl2pPr marL="457200" indent="0">
              <a:buNone/>
              <a:defRPr sz="18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46404" y="2507550"/>
            <a:ext cx="3360420" cy="366465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10"/>
          <p:cNvSpPr>
            <a:spLocks noGrp="1"/>
          </p:cNvSpPr>
          <p:nvPr>
            <p:ph type="body" sz="quarter" idx="13"/>
          </p:nvPr>
        </p:nvSpPr>
        <p:spPr>
          <a:xfrm>
            <a:off x="4599432" y="1717185"/>
            <a:ext cx="3364992" cy="731520"/>
          </a:xfrm>
        </p:spPr>
        <p:txBody>
          <a:bodyPr anchor="b">
            <a:normAutofit/>
          </a:bodyPr>
          <a:lstStyle>
            <a:lvl1pPr marL="0" indent="0">
              <a:buFontTx/>
              <a:buNone/>
              <a:defRPr lang="en-US" sz="1800" b="0" kern="1200" spc="10" baseline="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0" lvl="0" indent="0" algn="l" defTabSz="914400" rtl="0" eaLnBrk="1" latinLnBrk="0" hangingPunct="1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Clr>
                <a:schemeClr val="accent1"/>
              </a:buClr>
              <a:buSzPct val="80000"/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594860" y="2507550"/>
            <a:ext cx="3360420" cy="366465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59901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5706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51251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0936" y="457201"/>
            <a:ext cx="2400300" cy="1600197"/>
          </a:xfrm>
        </p:spPr>
        <p:txBody>
          <a:bodyPr anchor="b">
            <a:normAutofit/>
          </a:bodyPr>
          <a:lstStyle>
            <a:lvl1pPr>
              <a:defRPr sz="2800" b="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78200" y="685800"/>
            <a:ext cx="4559300" cy="548640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30936" y="2099735"/>
            <a:ext cx="2400300" cy="3810001"/>
          </a:xfrm>
        </p:spPr>
        <p:txBody>
          <a:bodyPr>
            <a:normAutofit/>
          </a:bodyPr>
          <a:lstStyle>
            <a:lvl1pPr marL="0" indent="0">
              <a:lnSpc>
                <a:spcPct val="114000"/>
              </a:lnSpc>
              <a:spcBef>
                <a:spcPts val="800"/>
              </a:spcBef>
              <a:buNone/>
              <a:defRPr sz="13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89498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5105400"/>
            <a:ext cx="8469630" cy="17526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5257800"/>
            <a:ext cx="7486650" cy="914400"/>
          </a:xfrm>
        </p:spPr>
        <p:txBody>
          <a:bodyPr anchor="b">
            <a:normAutofit/>
          </a:bodyPr>
          <a:lstStyle>
            <a:lvl1pPr>
              <a:defRPr sz="2800" b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1"/>
            <a:ext cx="8469630" cy="5128923"/>
          </a:xfrm>
          <a:solidFill>
            <a:schemeClr val="accent1"/>
          </a:solidFill>
        </p:spPr>
        <p:txBody>
          <a:bodyPr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6108590"/>
            <a:ext cx="7486650" cy="597011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800"/>
              </a:spcBef>
              <a:buNone/>
              <a:defRPr sz="1300">
                <a:solidFill>
                  <a:schemeClr val="bg1">
                    <a:lumMod val="85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63947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18763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486525" y="381000"/>
            <a:ext cx="1857375" cy="5897562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71500" y="381000"/>
            <a:ext cx="5800725" cy="589756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80143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8418195" y="0"/>
            <a:ext cx="731520" cy="6858000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46404" y="365760"/>
            <a:ext cx="7269480" cy="132556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46404" y="1828801"/>
            <a:ext cx="6446520" cy="435133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16200000">
            <a:off x="7831456" y="1044178"/>
            <a:ext cx="1904999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 b="0">
                <a:solidFill>
                  <a:schemeClr val="tx2">
                    <a:lumMod val="20000"/>
                    <a:lumOff val="80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16200000">
            <a:off x="6993255" y="4092178"/>
            <a:ext cx="3581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2">
                    <a:lumMod val="20000"/>
                    <a:lumOff val="8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441055" y="6172201"/>
            <a:ext cx="685800" cy="593725"/>
          </a:xfrm>
          <a:prstGeom prst="rect">
            <a:avLst/>
          </a:prstGeom>
        </p:spPr>
        <p:txBody>
          <a:bodyPr vert="horz" lIns="27432" tIns="45720" rIns="27432" bIns="45720" rtlCol="0" anchor="ctr">
            <a:normAutofit/>
          </a:bodyPr>
          <a:lstStyle>
            <a:lvl1pPr algn="ctr">
              <a:defRPr sz="3200">
                <a:solidFill>
                  <a:schemeClr val="tx2">
                    <a:lumMod val="60000"/>
                    <a:lumOff val="40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30085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80" r:id="rId1"/>
    <p:sldLayoutId id="2147483781" r:id="rId2"/>
    <p:sldLayoutId id="2147483782" r:id="rId3"/>
    <p:sldLayoutId id="2147483783" r:id="rId4"/>
    <p:sldLayoutId id="2147483784" r:id="rId5"/>
    <p:sldLayoutId id="2147483785" r:id="rId6"/>
    <p:sldLayoutId id="2147483786" r:id="rId7"/>
    <p:sldLayoutId id="2147483787" r:id="rId8"/>
    <p:sldLayoutId id="2147483788" r:id="rId9"/>
    <p:sldLayoutId id="2147483789" r:id="rId10"/>
    <p:sldLayoutId id="2147483790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kern="1200" spc="-5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95000"/>
        </a:lnSpc>
        <a:spcBef>
          <a:spcPts val="1400"/>
        </a:spcBef>
        <a:spcAft>
          <a:spcPts val="200"/>
        </a:spcAft>
        <a:buClr>
          <a:schemeClr val="accent1"/>
        </a:buClr>
        <a:buSzPct val="80000"/>
        <a:buFont typeface="Arial" pitchFamily="34" charset="0"/>
        <a:buChar char="•"/>
        <a:defRPr sz="1800" kern="1200" spc="10" baseline="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73152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28016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6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6pPr>
      <a:lvl7pPr marL="19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7pPr>
      <a:lvl8pPr marL="22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8pPr>
      <a:lvl9pPr marL="25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46404" y="685800"/>
            <a:ext cx="7063740" cy="2743200"/>
          </a:xfrm>
        </p:spPr>
        <p:txBody>
          <a:bodyPr>
            <a:normAutofit/>
          </a:bodyPr>
          <a:lstStyle/>
          <a:p>
            <a:r>
              <a:rPr dirty="0"/>
              <a:t>CNN MNIST Model Variations and Comparison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40130" y="3447288"/>
            <a:ext cx="7063740" cy="2523744"/>
          </a:xfrm>
        </p:spPr>
        <p:txBody>
          <a:bodyPr>
            <a:noAutofit/>
          </a:bodyPr>
          <a:lstStyle/>
          <a:p>
            <a:r>
              <a:rPr sz="1100" dirty="0"/>
              <a:t>IN501 Unit 9 Assignment</a:t>
            </a:r>
          </a:p>
          <a:p>
            <a:r>
              <a:rPr sz="1100" dirty="0"/>
              <a:t>Group Members: </a:t>
            </a:r>
            <a:endParaRPr lang="en-US" sz="1100" dirty="0"/>
          </a:p>
          <a:p>
            <a:r>
              <a:rPr lang="en-US" sz="1100" dirty="0"/>
              <a:t>Jamie Ridenour</a:t>
            </a:r>
          </a:p>
          <a:p>
            <a:r>
              <a:rPr lang="en-US" sz="1100" dirty="0"/>
              <a:t>Robert Kresser</a:t>
            </a:r>
          </a:p>
          <a:p>
            <a:r>
              <a:rPr lang="en-US" sz="1100" dirty="0"/>
              <a:t>Lane Meadows</a:t>
            </a:r>
          </a:p>
          <a:p>
            <a:r>
              <a:rPr lang="en-US" sz="1100" dirty="0"/>
              <a:t>Francisca </a:t>
            </a:r>
            <a:r>
              <a:rPr lang="en-US" sz="1100" dirty="0" err="1"/>
              <a:t>Mpianing</a:t>
            </a:r>
            <a:endParaRPr lang="en-US" sz="1100" dirty="0"/>
          </a:p>
          <a:p>
            <a:r>
              <a:rPr lang="en-US" sz="1100" dirty="0"/>
              <a:t>Marie Galarza</a:t>
            </a:r>
            <a:endParaRPr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7260" y="256032"/>
            <a:ext cx="7269480" cy="667194"/>
          </a:xfrm>
        </p:spPr>
        <p:txBody>
          <a:bodyPr/>
          <a:lstStyle/>
          <a:p>
            <a:r>
              <a:rPr dirty="0"/>
              <a:t>Baseline CNN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46404" y="1014985"/>
            <a:ext cx="6446520" cy="5705855"/>
          </a:xfrm>
        </p:spPr>
        <p:txBody>
          <a:bodyPr>
            <a:noAutofit/>
          </a:bodyPr>
          <a:lstStyle/>
          <a:p>
            <a:r>
              <a:rPr sz="1100" dirty="0"/>
              <a:t>Dataset: MNIST handwritten digit dataset</a:t>
            </a:r>
          </a:p>
          <a:p>
            <a:r>
              <a:rPr sz="1100" dirty="0"/>
              <a:t>Architecture: Sequential CNN</a:t>
            </a:r>
          </a:p>
          <a:p>
            <a:r>
              <a:rPr sz="1100" dirty="0"/>
              <a:t>- Conv2D (32 filters)</a:t>
            </a:r>
          </a:p>
          <a:p>
            <a:r>
              <a:rPr sz="1100" dirty="0"/>
              <a:t>- </a:t>
            </a:r>
            <a:r>
              <a:rPr sz="1100" dirty="0" err="1"/>
              <a:t>MaxPooling</a:t>
            </a:r>
            <a:endParaRPr sz="1100" dirty="0"/>
          </a:p>
          <a:p>
            <a:r>
              <a:rPr sz="1100" dirty="0"/>
              <a:t>- Conv2D (64 filters)</a:t>
            </a:r>
          </a:p>
          <a:p>
            <a:r>
              <a:rPr sz="1100" dirty="0"/>
              <a:t>- </a:t>
            </a:r>
            <a:r>
              <a:rPr sz="1100" dirty="0" err="1"/>
              <a:t>MaxPooling</a:t>
            </a:r>
            <a:endParaRPr sz="1100" dirty="0"/>
          </a:p>
          <a:p>
            <a:r>
              <a:rPr sz="1100" dirty="0"/>
              <a:t>- Flatten</a:t>
            </a:r>
          </a:p>
          <a:p>
            <a:r>
              <a:rPr sz="1100" dirty="0"/>
              <a:t>- Dense layers</a:t>
            </a:r>
          </a:p>
          <a:p>
            <a:endParaRPr sz="1100" dirty="0"/>
          </a:p>
          <a:p>
            <a:r>
              <a:rPr sz="1100" dirty="0"/>
              <a:t>Training Setup:</a:t>
            </a:r>
          </a:p>
          <a:p>
            <a:r>
              <a:rPr sz="1100" dirty="0"/>
              <a:t>- Optimizer: Adam</a:t>
            </a:r>
          </a:p>
          <a:p>
            <a:r>
              <a:rPr sz="1100" dirty="0"/>
              <a:t>- Epochs: 5</a:t>
            </a:r>
          </a:p>
          <a:p>
            <a:endParaRPr sz="1100" dirty="0"/>
          </a:p>
          <a:p>
            <a:r>
              <a:rPr sz="1100" dirty="0"/>
              <a:t>Results:</a:t>
            </a:r>
          </a:p>
          <a:p>
            <a:r>
              <a:rPr sz="1100" dirty="0"/>
              <a:t>Test Loss: </a:t>
            </a:r>
            <a:r>
              <a:rPr lang="en-US" sz="1100" dirty="0"/>
              <a:t>0.0403</a:t>
            </a:r>
          </a:p>
          <a:p>
            <a:r>
              <a:rPr sz="1100" dirty="0"/>
              <a:t>Test Accuracy: </a:t>
            </a:r>
            <a:r>
              <a:rPr lang="en-US" sz="1100" dirty="0"/>
              <a:t>0.9883</a:t>
            </a:r>
            <a:endParaRPr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Variation 1 – Increased Filters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46404" y="2020825"/>
            <a:ext cx="6446520" cy="4351337"/>
          </a:xfrm>
        </p:spPr>
        <p:txBody>
          <a:bodyPr>
            <a:normAutofit fontScale="85000" lnSpcReduction="10000"/>
          </a:bodyPr>
          <a:lstStyle/>
          <a:p>
            <a:r>
              <a:rPr dirty="0"/>
              <a:t>Member: </a:t>
            </a:r>
            <a:r>
              <a:rPr lang="en-US" dirty="0"/>
              <a:t>Lane Meadows</a:t>
            </a:r>
            <a:endParaRPr dirty="0"/>
          </a:p>
          <a:p>
            <a:r>
              <a:rPr dirty="0"/>
              <a:t>Parameter Changed: Conv2D filters increased from 32 to 64</a:t>
            </a:r>
          </a:p>
          <a:p>
            <a:endParaRPr dirty="0"/>
          </a:p>
          <a:p>
            <a:r>
              <a:rPr dirty="0"/>
              <a:t>Hypothesis:</a:t>
            </a:r>
          </a:p>
          <a:p>
            <a:r>
              <a:rPr dirty="0"/>
              <a:t>More filters allow the network to detect more image features.</a:t>
            </a:r>
          </a:p>
          <a:p>
            <a:r>
              <a:rPr dirty="0"/>
              <a:t>Expected slightly higher accuracy but longer training time.</a:t>
            </a:r>
          </a:p>
          <a:p>
            <a:endParaRPr dirty="0"/>
          </a:p>
          <a:p>
            <a:r>
              <a:rPr dirty="0"/>
              <a:t>Results:</a:t>
            </a:r>
            <a:endParaRPr lang="en-US" dirty="0"/>
          </a:p>
          <a:p>
            <a:r>
              <a:rPr lang="en-US" dirty="0"/>
              <a:t>Total Loss: 0.0316</a:t>
            </a:r>
            <a:endParaRPr dirty="0"/>
          </a:p>
          <a:p>
            <a:r>
              <a:rPr dirty="0"/>
              <a:t>Accuracy:</a:t>
            </a:r>
            <a:r>
              <a:rPr lang="en-US" dirty="0"/>
              <a:t> 0.9907</a:t>
            </a:r>
            <a:endParaRPr dirty="0">
              <a:highlight>
                <a:srgbClr val="FFFF00"/>
              </a:highlight>
            </a:endParaRPr>
          </a:p>
          <a:p>
            <a:r>
              <a:rPr dirty="0"/>
              <a:t>Observation</a:t>
            </a:r>
            <a:r>
              <a:rPr lang="en-US" dirty="0"/>
              <a:t>: Increased accuracy of 0.0039, decreased loss by 0.0087</a:t>
            </a:r>
            <a:endParaRPr dirty="0">
              <a:highlight>
                <a:srgbClr val="FFFF00"/>
              </a:highlight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Variation 2 – Dropout Layer Added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46404" y="2039113"/>
            <a:ext cx="6446520" cy="4351337"/>
          </a:xfrm>
        </p:spPr>
        <p:txBody>
          <a:bodyPr>
            <a:normAutofit fontScale="85000" lnSpcReduction="20000"/>
          </a:bodyPr>
          <a:lstStyle/>
          <a:p>
            <a:r>
              <a:rPr dirty="0"/>
              <a:t>Member: </a:t>
            </a:r>
            <a:r>
              <a:rPr lang="en-US" dirty="0"/>
              <a:t>Robert Kresser</a:t>
            </a:r>
            <a:endParaRPr dirty="0"/>
          </a:p>
          <a:p>
            <a:r>
              <a:rPr dirty="0"/>
              <a:t>Parameter Changed: Added Dropout layer (0.3)</a:t>
            </a:r>
          </a:p>
          <a:p>
            <a:endParaRPr dirty="0"/>
          </a:p>
          <a:p>
            <a:r>
              <a:rPr dirty="0"/>
              <a:t>Hypothesis:</a:t>
            </a:r>
          </a:p>
          <a:p>
            <a:r>
              <a:rPr dirty="0"/>
              <a:t>Dropout reduces overfitting by randomly disabling neurons</a:t>
            </a:r>
          </a:p>
          <a:p>
            <a:r>
              <a:rPr dirty="0"/>
              <a:t>during training, improving generalization.</a:t>
            </a:r>
          </a:p>
          <a:p>
            <a:endParaRPr dirty="0"/>
          </a:p>
          <a:p>
            <a:r>
              <a:rPr dirty="0"/>
              <a:t>Results:</a:t>
            </a:r>
            <a:endParaRPr lang="en-US" dirty="0"/>
          </a:p>
          <a:p>
            <a:r>
              <a:rPr lang="en-US" dirty="0"/>
              <a:t>Total Loss: 0.0249</a:t>
            </a:r>
            <a:endParaRPr dirty="0"/>
          </a:p>
          <a:p>
            <a:r>
              <a:rPr dirty="0"/>
              <a:t>Accuracy: </a:t>
            </a:r>
            <a:r>
              <a:rPr lang="en-US" dirty="0"/>
              <a:t>0.9922</a:t>
            </a:r>
            <a:endParaRPr dirty="0"/>
          </a:p>
          <a:p>
            <a:r>
              <a:rPr dirty="0"/>
              <a:t>Observation: </a:t>
            </a:r>
            <a:r>
              <a:rPr lang="en-US" dirty="0"/>
              <a:t>Decreased accuracy by 0.0008, decreased loss by 0.0067</a:t>
            </a:r>
            <a:endParaRPr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Variation 3 – Increased Epochs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46404" y="2011681"/>
            <a:ext cx="6446520" cy="4351337"/>
          </a:xfrm>
        </p:spPr>
        <p:txBody>
          <a:bodyPr>
            <a:normAutofit fontScale="85000" lnSpcReduction="20000"/>
          </a:bodyPr>
          <a:lstStyle/>
          <a:p>
            <a:r>
              <a:rPr dirty="0"/>
              <a:t>Member: </a:t>
            </a:r>
            <a:r>
              <a:rPr lang="en-US" dirty="0"/>
              <a:t>Francisca </a:t>
            </a:r>
            <a:r>
              <a:rPr lang="en-US" dirty="0" err="1"/>
              <a:t>Mpianing</a:t>
            </a:r>
            <a:endParaRPr lang="en-US" dirty="0"/>
          </a:p>
          <a:p>
            <a:r>
              <a:rPr dirty="0"/>
              <a:t>Parameter Changed: Increased epochs from 5 to 10</a:t>
            </a:r>
          </a:p>
          <a:p>
            <a:endParaRPr dirty="0"/>
          </a:p>
          <a:p>
            <a:r>
              <a:rPr dirty="0"/>
              <a:t>Hypothesis:</a:t>
            </a:r>
          </a:p>
          <a:p>
            <a:r>
              <a:rPr dirty="0"/>
              <a:t>More training cycles allow the model to learn patterns better</a:t>
            </a:r>
          </a:p>
          <a:p>
            <a:r>
              <a:rPr dirty="0"/>
              <a:t>but increase training time.</a:t>
            </a:r>
          </a:p>
          <a:p>
            <a:endParaRPr dirty="0"/>
          </a:p>
          <a:p>
            <a:r>
              <a:rPr dirty="0"/>
              <a:t>Results:</a:t>
            </a:r>
            <a:endParaRPr lang="en-US" dirty="0"/>
          </a:p>
          <a:p>
            <a:r>
              <a:rPr lang="en-US" dirty="0"/>
              <a:t>Total Loss: 0.02839</a:t>
            </a:r>
            <a:endParaRPr dirty="0"/>
          </a:p>
          <a:p>
            <a:r>
              <a:rPr lang="en-US" dirty="0"/>
              <a:t>Accuracy: 0.9914</a:t>
            </a:r>
          </a:p>
          <a:p>
            <a:r>
              <a:rPr lang="en-US" dirty="0"/>
              <a:t>Observation: Increased accuracy by 0.0015, increased loss by 0.00339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Variation 4 – Optimizer Changed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46404" y="2011681"/>
            <a:ext cx="6446520" cy="4351337"/>
          </a:xfrm>
        </p:spPr>
        <p:txBody>
          <a:bodyPr>
            <a:normAutofit fontScale="92500" lnSpcReduction="20000"/>
          </a:bodyPr>
          <a:lstStyle/>
          <a:p>
            <a:r>
              <a:rPr dirty="0"/>
              <a:t>Member: </a:t>
            </a:r>
            <a:r>
              <a:rPr lang="en-US" dirty="0"/>
              <a:t>Marie Galarza</a:t>
            </a:r>
          </a:p>
          <a:p>
            <a:r>
              <a:rPr dirty="0"/>
              <a:t>Parameter Changed: Adam optimizer replaced with SGD</a:t>
            </a:r>
          </a:p>
          <a:p>
            <a:endParaRPr dirty="0"/>
          </a:p>
          <a:p>
            <a:r>
              <a:rPr dirty="0"/>
              <a:t>Hypothesis:</a:t>
            </a:r>
          </a:p>
          <a:p>
            <a:r>
              <a:rPr dirty="0"/>
              <a:t>SGD may train slower but can produce stable learning results.</a:t>
            </a:r>
          </a:p>
          <a:p>
            <a:endParaRPr dirty="0"/>
          </a:p>
          <a:p>
            <a:r>
              <a:rPr dirty="0"/>
              <a:t>Results:</a:t>
            </a:r>
            <a:endParaRPr lang="en-US" dirty="0"/>
          </a:p>
          <a:p>
            <a:r>
              <a:rPr lang="en-US" dirty="0"/>
              <a:t>Total Loss: 0.04337</a:t>
            </a:r>
            <a:endParaRPr dirty="0"/>
          </a:p>
          <a:p>
            <a:r>
              <a:rPr lang="en-US" dirty="0"/>
              <a:t>Accuracy: 0.9859</a:t>
            </a:r>
          </a:p>
          <a:p>
            <a:r>
              <a:rPr lang="en-US" dirty="0"/>
              <a:t>Observation: Decreased accuracy by 0.0055, increased loss by 0.01508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t>Variation 5 – Additional Convolution Layer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46404" y="1993393"/>
            <a:ext cx="6446520" cy="4351337"/>
          </a:xfrm>
        </p:spPr>
        <p:txBody>
          <a:bodyPr>
            <a:normAutofit fontScale="92500" lnSpcReduction="20000"/>
          </a:bodyPr>
          <a:lstStyle/>
          <a:p>
            <a:r>
              <a:rPr dirty="0"/>
              <a:t>Member: </a:t>
            </a:r>
            <a:r>
              <a:rPr lang="en-US" dirty="0"/>
              <a:t>Jamie Ridenour</a:t>
            </a:r>
            <a:endParaRPr dirty="0"/>
          </a:p>
          <a:p>
            <a:r>
              <a:rPr dirty="0"/>
              <a:t>Parameter Changed: Added third Conv2D layer</a:t>
            </a:r>
          </a:p>
          <a:p>
            <a:endParaRPr dirty="0"/>
          </a:p>
          <a:p>
            <a:r>
              <a:rPr dirty="0"/>
              <a:t>Hypothesis:</a:t>
            </a:r>
          </a:p>
          <a:p>
            <a:r>
              <a:rPr dirty="0"/>
              <a:t>Additional convolution layers allow the network to detect</a:t>
            </a:r>
            <a:r>
              <a:rPr lang="en-US" dirty="0"/>
              <a:t> </a:t>
            </a:r>
            <a:r>
              <a:rPr dirty="0"/>
              <a:t>more complex image patterns.</a:t>
            </a:r>
          </a:p>
          <a:p>
            <a:endParaRPr dirty="0"/>
          </a:p>
          <a:p>
            <a:r>
              <a:rPr dirty="0"/>
              <a:t>Results:</a:t>
            </a:r>
            <a:endParaRPr lang="en-US" dirty="0"/>
          </a:p>
          <a:p>
            <a:r>
              <a:rPr lang="en-US" dirty="0"/>
              <a:t>Total Loss: 0.0599</a:t>
            </a:r>
            <a:endParaRPr dirty="0"/>
          </a:p>
          <a:p>
            <a:r>
              <a:rPr lang="en-US" dirty="0"/>
              <a:t>Accuracy: 0.9821</a:t>
            </a:r>
          </a:p>
          <a:p>
            <a:r>
              <a:rPr lang="en-US" dirty="0"/>
              <a:t>Observation: Decreased accuracy by 0.0038, increased loss by 0.01653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33801627-6861-4EA9-BE98-E0CE33A894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82600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3C1483F-490E-4C8A-8765-1F8AF0C67D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2599" y="0"/>
            <a:ext cx="2802142" cy="6858000"/>
          </a:xfrm>
          <a:prstGeom prst="rect">
            <a:avLst/>
          </a:prstGeom>
          <a:solidFill>
            <a:srgbClr val="29292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898" y="643466"/>
            <a:ext cx="2319539" cy="5528734"/>
          </a:xfrm>
          <a:noFill/>
        </p:spPr>
        <p:txBody>
          <a:bodyPr anchor="t">
            <a:normAutofit/>
          </a:bodyPr>
          <a:lstStyle/>
          <a:p>
            <a:r>
              <a:rPr lang="en-US" sz="2400">
                <a:solidFill>
                  <a:srgbClr val="FFFFFF"/>
                </a:solidFill>
              </a:rPr>
              <a:t>Final Model Comparison and Key Findings</a:t>
            </a:r>
          </a:p>
        </p:txBody>
      </p:sp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0249BF42-D05C-4553-9417-7B86957592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284740" y="0"/>
            <a:ext cx="518488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16423" y="256032"/>
            <a:ext cx="4370604" cy="6355080"/>
          </a:xfrm>
        </p:spPr>
        <p:txBody>
          <a:bodyPr>
            <a:normAutofit/>
          </a:bodyPr>
          <a:lstStyle/>
          <a:p>
            <a:r>
              <a:rPr lang="en-US" sz="1100" dirty="0"/>
              <a:t>Model Comparison:</a:t>
            </a:r>
          </a:p>
          <a:p>
            <a:r>
              <a:rPr lang="en-US" sz="1100" dirty="0"/>
              <a:t>Baseline Model – 0.9883</a:t>
            </a:r>
          </a:p>
          <a:p>
            <a:r>
              <a:rPr lang="en-US" sz="1100" dirty="0"/>
              <a:t>Variation 1 – Increased Filters: 0.9907</a:t>
            </a:r>
            <a:endParaRPr lang="en-US" sz="1100" dirty="0">
              <a:highlight>
                <a:srgbClr val="FFFF00"/>
              </a:highlight>
            </a:endParaRPr>
          </a:p>
          <a:p>
            <a:r>
              <a:rPr lang="en-US" sz="1100" dirty="0"/>
              <a:t>Variation 2 – Dropout: 0.9922</a:t>
            </a:r>
          </a:p>
          <a:p>
            <a:r>
              <a:rPr lang="en-US" sz="1100" dirty="0"/>
              <a:t>Variation 3 – More Epochs: 0.9914</a:t>
            </a:r>
          </a:p>
          <a:p>
            <a:r>
              <a:rPr lang="en-US" sz="1100" dirty="0"/>
              <a:t>Variation 4 – SGD Optimizer: 0.9859</a:t>
            </a:r>
          </a:p>
          <a:p>
            <a:r>
              <a:rPr lang="en-US" sz="1100" dirty="0"/>
              <a:t>Variation 5 – Extra Conv Layer: 0.9821</a:t>
            </a:r>
          </a:p>
          <a:p>
            <a:endParaRPr lang="en-US" sz="1100" dirty="0"/>
          </a:p>
          <a:p>
            <a:r>
              <a:rPr lang="en-US" sz="1100" dirty="0"/>
              <a:t>Key Findings:</a:t>
            </a:r>
          </a:p>
          <a:p>
            <a:r>
              <a:rPr lang="en-US" sz="1100" dirty="0"/>
              <a:t>- Increasing model complexity improved feature detection.</a:t>
            </a:r>
          </a:p>
          <a:p>
            <a:r>
              <a:rPr lang="en-US" sz="1100" dirty="0"/>
              <a:t>- Dropout helped reduce overfitting.</a:t>
            </a:r>
          </a:p>
          <a:p>
            <a:r>
              <a:rPr lang="en-US" sz="1100" dirty="0"/>
              <a:t>- Additional epochs improved learning but increased training time.</a:t>
            </a:r>
          </a:p>
          <a:p>
            <a:r>
              <a:rPr lang="en-US" sz="1100" dirty="0"/>
              <a:t>- Different optimizers affected training speed and stability.</a:t>
            </a:r>
          </a:p>
          <a:p>
            <a:endParaRPr lang="en-US" sz="1100" dirty="0"/>
          </a:p>
          <a:p>
            <a:r>
              <a:rPr lang="en-US" sz="1100" dirty="0"/>
              <a:t>Conclusion:</a:t>
            </a:r>
          </a:p>
          <a:p>
            <a:r>
              <a:rPr lang="en-US" sz="1100" dirty="0"/>
              <a:t>CNN performance is highly dependent on parameter tuning. Balancing model complexity, accuracy, and training time is essential.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5000"/>
            <a:satMod val="17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5DB0431E-0B04-44A1-9C51-531E28D18A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6404" y="365760"/>
            <a:ext cx="7269480" cy="1325562"/>
          </a:xfrm>
        </p:spPr>
        <p:txBody>
          <a:bodyPr>
            <a:normAutofit/>
          </a:bodyPr>
          <a:lstStyle/>
          <a:p>
            <a:r>
              <a:t>Lessons Learned and Future Improvements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46404" y="1920240"/>
            <a:ext cx="6446520" cy="4351337"/>
          </a:xfrm>
        </p:spPr>
        <p:txBody>
          <a:bodyPr>
            <a:normAutofit/>
          </a:bodyPr>
          <a:lstStyle/>
          <a:p>
            <a:r>
              <a:rPr lang="en-US" sz="1500" dirty="0"/>
              <a:t>Lessons Learned:</a:t>
            </a:r>
          </a:p>
          <a:p>
            <a:r>
              <a:rPr lang="en-US" sz="1500" dirty="0"/>
              <a:t>- CNNs are effective for image classification tasks.</a:t>
            </a:r>
          </a:p>
          <a:p>
            <a:r>
              <a:rPr lang="en-US" sz="1500" dirty="0"/>
              <a:t>- Small parameter changes can significantly impact performance.</a:t>
            </a:r>
          </a:p>
          <a:p>
            <a:r>
              <a:rPr lang="en-US" sz="1500" dirty="0"/>
              <a:t>- Proper tuning improves both accuracy and model generalization.</a:t>
            </a:r>
          </a:p>
          <a:p>
            <a:endParaRPr lang="en-US" sz="1500" dirty="0"/>
          </a:p>
          <a:p>
            <a:r>
              <a:rPr lang="en-US" sz="1500" dirty="0"/>
              <a:t>Future Improvements:</a:t>
            </a:r>
          </a:p>
          <a:p>
            <a:r>
              <a:rPr lang="en-US" sz="1500" dirty="0"/>
              <a:t>- Experiment with deeper CNN architectures</a:t>
            </a:r>
          </a:p>
          <a:p>
            <a:r>
              <a:rPr lang="en-US" sz="1500" dirty="0"/>
              <a:t>- Use data augmentation techniques</a:t>
            </a:r>
          </a:p>
          <a:p>
            <a:r>
              <a:rPr lang="en-US" sz="1500" dirty="0"/>
              <a:t>- Try different optimizers and learning rates</a:t>
            </a:r>
          </a:p>
          <a:p>
            <a:r>
              <a:rPr lang="en-US" sz="1500" dirty="0"/>
              <a:t>- Train for additional epochs with early stopping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B424749-EEE0-49C9-9ABF-97B171A3EA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458200" y="0"/>
            <a:ext cx="685800" cy="6858000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theme/theme1.xml><?xml version="1.0" encoding="utf-8"?>
<a:theme xmlns:a="http://schemas.openxmlformats.org/drawingml/2006/main" name="View">
  <a:themeElements>
    <a:clrScheme name="View">
      <a:dk1>
        <a:srgbClr val="000000"/>
      </a:dk1>
      <a:lt1>
        <a:srgbClr val="FFFFFF"/>
      </a:lt1>
      <a:dk2>
        <a:srgbClr val="46464A"/>
      </a:dk2>
      <a:lt2>
        <a:srgbClr val="D6D3CC"/>
      </a:lt2>
      <a:accent1>
        <a:srgbClr val="6F6F74"/>
      </a:accent1>
      <a:accent2>
        <a:srgbClr val="92A9B9"/>
      </a:accent2>
      <a:accent3>
        <a:srgbClr val="A7B789"/>
      </a:accent3>
      <a:accent4>
        <a:srgbClr val="B9A489"/>
      </a:accent4>
      <a:accent5>
        <a:srgbClr val="8D6374"/>
      </a:accent5>
      <a:accent6>
        <a:srgbClr val="9B7362"/>
      </a:accent6>
      <a:hlink>
        <a:srgbClr val="67AABF"/>
      </a:hlink>
      <a:folHlink>
        <a:srgbClr val="ABAFA5"/>
      </a:folHlink>
    </a:clrScheme>
    <a:fontScheme name="View">
      <a:majorFont>
        <a:latin typeface="Century Schoolbook" panose="020406040505050203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Schoolbook" panose="020406040505050203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View">
      <a:fillStyleLst>
        <a:solidFill>
          <a:schemeClr val="phClr"/>
        </a:solidFill>
        <a:solidFill>
          <a:schemeClr val="phClr">
            <a:tint val="60000"/>
            <a:satMod val="120000"/>
          </a:schemeClr>
        </a:solidFill>
        <a:solidFill>
          <a:schemeClr val="phClr">
            <a:shade val="75000"/>
            <a:satMod val="16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3970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95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5240" dir="5400000" algn="tl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contourW="9525" prstMaterial="flat">
            <a:bevelT w="0" h="0" prst="coolSlant"/>
            <a:contourClr>
              <a:schemeClr val="phClr">
                <a:shade val="35000"/>
                <a:satMod val="130000"/>
              </a:schemeClr>
            </a:contourClr>
          </a:sp3d>
        </a:effectStyle>
        <a:effectStyle>
          <a:effectLst>
            <a:outerShdw blurRad="76200" dist="25400" dir="5400000" algn="tl" rotWithShape="0">
              <a:srgbClr val="000000">
                <a:alpha val="5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contourW="19050" prstMaterial="flat">
            <a:bevelT w="0" h="0" prst="coolSlant"/>
            <a:contourClr>
              <a:schemeClr val="phClr">
                <a:shade val="25000"/>
                <a:satMod val="14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4000"/>
                <a:shade val="98000"/>
                <a:satMod val="130000"/>
                <a:lumMod val="102000"/>
              </a:schemeClr>
            </a:gs>
            <a:gs pos="100000">
              <a:schemeClr val="phClr">
                <a:tint val="98000"/>
                <a:shade val="78000"/>
                <a:satMod val="140000"/>
              </a:schemeClr>
            </a:gs>
          </a:gsLst>
          <a:path path="circle">
            <a:fillToRect l="100000" t="10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iew" id="{BA0EB5A6-F2D4-4F82-977B-64ADEE4A2A69}" vid="{3969A8A2-35DB-4E3B-8885-16FD2056867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TM03457515[[fn=View]]</Template>
  <TotalTime>91</TotalTime>
  <Words>522</Words>
  <Application>Microsoft Office PowerPoint</Application>
  <PresentationFormat>On-screen Show (4:3)</PresentationFormat>
  <Paragraphs>111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Arial</vt:lpstr>
      <vt:lpstr>Century Schoolbook</vt:lpstr>
      <vt:lpstr>Wingdings 2</vt:lpstr>
      <vt:lpstr>View</vt:lpstr>
      <vt:lpstr>CNN MNIST Model Variations and Comparison</vt:lpstr>
      <vt:lpstr>Baseline CNN Model</vt:lpstr>
      <vt:lpstr>Variation 1 – Increased Filters</vt:lpstr>
      <vt:lpstr>Variation 2 – Dropout Layer Added</vt:lpstr>
      <vt:lpstr>Variation 3 – Increased Epochs</vt:lpstr>
      <vt:lpstr>Variation 4 – Optimizer Changed</vt:lpstr>
      <vt:lpstr>Variation 5 – Additional Convolution Layer</vt:lpstr>
      <vt:lpstr>Final Model Comparison and Key Findings</vt:lpstr>
      <vt:lpstr>Lessons Learned and Future Improvements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Jamie Ridenour</dc:creator>
  <cp:keywords/>
  <dc:description>generated using python-pptx</dc:description>
  <cp:lastModifiedBy>Jamie Ridenour</cp:lastModifiedBy>
  <cp:revision>14</cp:revision>
  <dcterms:created xsi:type="dcterms:W3CDTF">2013-01-27T09:14:16Z</dcterms:created>
  <dcterms:modified xsi:type="dcterms:W3CDTF">2026-03-10T16:19:27Z</dcterms:modified>
  <cp:category/>
</cp:coreProperties>
</file>