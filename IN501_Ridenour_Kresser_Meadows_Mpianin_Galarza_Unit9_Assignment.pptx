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2" d="100"/>
          <a:sy n="112" d="100"/>
        </p:scale>
        <p:origin x="1584" y="3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CNN MNIST Model Variations and Comparison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dirty="0"/>
              <a:t>IN501 Unit 9 Assignment</a:t>
            </a:r>
          </a:p>
          <a:p>
            <a:r>
              <a:rPr dirty="0"/>
              <a:t>Group Members: </a:t>
            </a:r>
            <a:endParaRPr lang="en-US" dirty="0"/>
          </a:p>
          <a:p>
            <a:r>
              <a:rPr lang="en-US" dirty="0"/>
              <a:t>Jamie Ridenour</a:t>
            </a:r>
          </a:p>
          <a:p>
            <a:r>
              <a:rPr lang="en-US" dirty="0"/>
              <a:t>Robert Kresser</a:t>
            </a:r>
          </a:p>
          <a:p>
            <a:r>
              <a:rPr lang="en-US" dirty="0"/>
              <a:t>Lane Meadows</a:t>
            </a:r>
          </a:p>
          <a:p>
            <a:r>
              <a:rPr lang="en-US" dirty="0"/>
              <a:t>Francisca </a:t>
            </a:r>
            <a:r>
              <a:rPr lang="en-US" dirty="0" err="1"/>
              <a:t>Mpianin</a:t>
            </a:r>
            <a:endParaRPr lang="en-US" dirty="0"/>
          </a:p>
          <a:p>
            <a:r>
              <a:rPr lang="en-US" dirty="0"/>
              <a:t>Marie Galarza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Baseline CNN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dirty="0"/>
              <a:t>Dataset: MNIST handwritten digit dataset</a:t>
            </a:r>
          </a:p>
          <a:p>
            <a:r>
              <a:rPr dirty="0"/>
              <a:t>Architecture: Sequential CNN</a:t>
            </a:r>
          </a:p>
          <a:p>
            <a:r>
              <a:rPr dirty="0"/>
              <a:t>- Conv2D (32 filters)</a:t>
            </a:r>
          </a:p>
          <a:p>
            <a:r>
              <a:rPr dirty="0"/>
              <a:t>- </a:t>
            </a:r>
            <a:r>
              <a:rPr dirty="0" err="1"/>
              <a:t>MaxPooling</a:t>
            </a:r>
            <a:endParaRPr dirty="0"/>
          </a:p>
          <a:p>
            <a:r>
              <a:rPr dirty="0"/>
              <a:t>- Conv2D (64 filters)</a:t>
            </a:r>
          </a:p>
          <a:p>
            <a:r>
              <a:rPr dirty="0"/>
              <a:t>- </a:t>
            </a:r>
            <a:r>
              <a:rPr dirty="0" err="1"/>
              <a:t>MaxPooling</a:t>
            </a:r>
            <a:endParaRPr dirty="0"/>
          </a:p>
          <a:p>
            <a:r>
              <a:rPr dirty="0"/>
              <a:t>- Flatten</a:t>
            </a:r>
          </a:p>
          <a:p>
            <a:r>
              <a:rPr dirty="0"/>
              <a:t>- Dense layers</a:t>
            </a:r>
          </a:p>
          <a:p>
            <a:endParaRPr dirty="0"/>
          </a:p>
          <a:p>
            <a:r>
              <a:rPr dirty="0"/>
              <a:t>Training Setup:</a:t>
            </a:r>
          </a:p>
          <a:p>
            <a:r>
              <a:rPr dirty="0"/>
              <a:t>- Optimizer: Adam</a:t>
            </a:r>
          </a:p>
          <a:p>
            <a:r>
              <a:rPr dirty="0"/>
              <a:t>- Epochs: 5</a:t>
            </a:r>
          </a:p>
          <a:p>
            <a:endParaRPr dirty="0"/>
          </a:p>
          <a:p>
            <a:r>
              <a:rPr dirty="0"/>
              <a:t>Results:</a:t>
            </a:r>
          </a:p>
          <a:p>
            <a:r>
              <a:rPr dirty="0"/>
              <a:t>Test Loss: </a:t>
            </a:r>
            <a:r>
              <a:rPr lang="en-US" dirty="0"/>
              <a:t>0.0403</a:t>
            </a:r>
          </a:p>
          <a:p>
            <a:r>
              <a:rPr dirty="0"/>
              <a:t>Test Accuracy: </a:t>
            </a:r>
            <a:r>
              <a:rPr lang="en-US" dirty="0"/>
              <a:t>0.9883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Variation 1 – Increased Filters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dirty="0"/>
              <a:t>Member: </a:t>
            </a:r>
            <a:r>
              <a:rPr lang="en-US" dirty="0"/>
              <a:t>Lane Meadows</a:t>
            </a:r>
            <a:endParaRPr dirty="0"/>
          </a:p>
          <a:p>
            <a:r>
              <a:rPr dirty="0"/>
              <a:t>Parameter Changed: Conv2D filters increased from 32 to 64</a:t>
            </a:r>
          </a:p>
          <a:p>
            <a:endParaRPr dirty="0"/>
          </a:p>
          <a:p>
            <a:r>
              <a:rPr dirty="0"/>
              <a:t>Hypothesis:</a:t>
            </a:r>
          </a:p>
          <a:p>
            <a:r>
              <a:rPr dirty="0"/>
              <a:t>More filters allow the network to detect more image features.</a:t>
            </a:r>
          </a:p>
          <a:p>
            <a:r>
              <a:rPr dirty="0"/>
              <a:t>Expected slightly higher accuracy but longer training time.</a:t>
            </a:r>
          </a:p>
          <a:p>
            <a:endParaRPr dirty="0"/>
          </a:p>
          <a:p>
            <a:r>
              <a:rPr dirty="0"/>
              <a:t>Results:</a:t>
            </a:r>
          </a:p>
          <a:p>
            <a:r>
              <a:rPr dirty="0"/>
              <a:t>Accuracy: </a:t>
            </a:r>
            <a:r>
              <a:rPr dirty="0">
                <a:highlight>
                  <a:srgbClr val="FFFF00"/>
                </a:highlight>
              </a:rPr>
              <a:t>(Insert result)</a:t>
            </a:r>
          </a:p>
          <a:p>
            <a:r>
              <a:rPr dirty="0"/>
              <a:t>Observation: </a:t>
            </a:r>
            <a:r>
              <a:rPr dirty="0">
                <a:highlight>
                  <a:srgbClr val="FFFF00"/>
                </a:highlight>
              </a:rPr>
              <a:t>(Insert comparison to baseline)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Variation 2 – Dropout Layer Added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dirty="0"/>
              <a:t>Member: </a:t>
            </a:r>
            <a:r>
              <a:rPr lang="en-US" dirty="0"/>
              <a:t>Robert Kresser</a:t>
            </a:r>
            <a:endParaRPr dirty="0"/>
          </a:p>
          <a:p>
            <a:r>
              <a:rPr dirty="0"/>
              <a:t>Parameter Changed: Added Dropout layer (0.3)</a:t>
            </a:r>
          </a:p>
          <a:p>
            <a:endParaRPr dirty="0"/>
          </a:p>
          <a:p>
            <a:r>
              <a:rPr dirty="0"/>
              <a:t>Hypothesis:</a:t>
            </a:r>
          </a:p>
          <a:p>
            <a:r>
              <a:rPr dirty="0"/>
              <a:t>Dropout reduces overfitting by randomly disabling neurons</a:t>
            </a:r>
          </a:p>
          <a:p>
            <a:r>
              <a:rPr dirty="0"/>
              <a:t>during training, improving generalization.</a:t>
            </a:r>
          </a:p>
          <a:p>
            <a:endParaRPr dirty="0"/>
          </a:p>
          <a:p>
            <a:r>
              <a:rPr dirty="0"/>
              <a:t>Results:</a:t>
            </a:r>
          </a:p>
          <a:p>
            <a:r>
              <a:rPr dirty="0"/>
              <a:t>Accuracy: </a:t>
            </a:r>
            <a:r>
              <a:rPr dirty="0">
                <a:highlight>
                  <a:srgbClr val="FFFF00"/>
                </a:highlight>
              </a:rPr>
              <a:t>(Insert result)</a:t>
            </a:r>
          </a:p>
          <a:p>
            <a:r>
              <a:rPr dirty="0"/>
              <a:t>Observation: </a:t>
            </a:r>
            <a:r>
              <a:rPr dirty="0">
                <a:highlight>
                  <a:srgbClr val="FFFF00"/>
                </a:highlight>
              </a:rPr>
              <a:t>(Insert comparison)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Variation 3 – Increased Epochs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dirty="0"/>
              <a:t>Member: </a:t>
            </a:r>
            <a:r>
              <a:rPr lang="en-US" dirty="0"/>
              <a:t>Francisca </a:t>
            </a:r>
            <a:r>
              <a:rPr lang="en-US" dirty="0" err="1"/>
              <a:t>Mpianin</a:t>
            </a:r>
            <a:endParaRPr lang="en-US" dirty="0"/>
          </a:p>
          <a:p>
            <a:r>
              <a:rPr dirty="0"/>
              <a:t>Parameter Changed: Increased epochs from 5 to 10</a:t>
            </a:r>
          </a:p>
          <a:p>
            <a:endParaRPr dirty="0"/>
          </a:p>
          <a:p>
            <a:r>
              <a:rPr dirty="0"/>
              <a:t>Hypothesis:</a:t>
            </a:r>
          </a:p>
          <a:p>
            <a:r>
              <a:rPr dirty="0"/>
              <a:t>More training cycles allow the model to learn patterns better</a:t>
            </a:r>
          </a:p>
          <a:p>
            <a:r>
              <a:rPr dirty="0"/>
              <a:t>but increase training time.</a:t>
            </a:r>
          </a:p>
          <a:p>
            <a:endParaRPr dirty="0"/>
          </a:p>
          <a:p>
            <a:r>
              <a:rPr dirty="0"/>
              <a:t>Results:</a:t>
            </a:r>
          </a:p>
          <a:p>
            <a:r>
              <a:rPr dirty="0"/>
              <a:t>Accuracy: </a:t>
            </a:r>
            <a:r>
              <a:rPr dirty="0">
                <a:highlight>
                  <a:srgbClr val="FFFF00"/>
                </a:highlight>
              </a:rPr>
              <a:t>(Insert result)</a:t>
            </a:r>
          </a:p>
          <a:p>
            <a:r>
              <a:rPr dirty="0"/>
              <a:t>Observation: </a:t>
            </a:r>
            <a:r>
              <a:rPr dirty="0">
                <a:highlight>
                  <a:srgbClr val="FFFF00"/>
                </a:highlight>
              </a:rPr>
              <a:t>(Insert comparison)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Variation 4 – Optimizer Changed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dirty="0"/>
              <a:t>Member: </a:t>
            </a:r>
            <a:r>
              <a:rPr lang="en-US" dirty="0"/>
              <a:t>Marie Galarza</a:t>
            </a:r>
          </a:p>
          <a:p>
            <a:r>
              <a:rPr dirty="0"/>
              <a:t>Parameter Changed: Adam optimizer replaced with SGD</a:t>
            </a:r>
          </a:p>
          <a:p>
            <a:endParaRPr dirty="0"/>
          </a:p>
          <a:p>
            <a:r>
              <a:rPr dirty="0"/>
              <a:t>Hypothesis:</a:t>
            </a:r>
          </a:p>
          <a:p>
            <a:r>
              <a:rPr dirty="0"/>
              <a:t>SGD may train slower but can produce stable learning results.</a:t>
            </a:r>
          </a:p>
          <a:p>
            <a:endParaRPr dirty="0"/>
          </a:p>
          <a:p>
            <a:r>
              <a:rPr dirty="0"/>
              <a:t>Results:</a:t>
            </a:r>
          </a:p>
          <a:p>
            <a:r>
              <a:rPr dirty="0"/>
              <a:t>Accuracy: </a:t>
            </a:r>
            <a:r>
              <a:rPr dirty="0">
                <a:highlight>
                  <a:srgbClr val="FFFF00"/>
                </a:highlight>
              </a:rPr>
              <a:t>(Insert result)</a:t>
            </a:r>
          </a:p>
          <a:p>
            <a:r>
              <a:rPr dirty="0"/>
              <a:t>Observation: </a:t>
            </a:r>
            <a:r>
              <a:rPr dirty="0">
                <a:highlight>
                  <a:srgbClr val="FFFF00"/>
                </a:highlight>
              </a:rPr>
              <a:t>(Insert comparison)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Variation 5 – Additional Convolution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dirty="0"/>
              <a:t>Member: </a:t>
            </a:r>
            <a:r>
              <a:rPr lang="en-US" dirty="0"/>
              <a:t>Jamie Ridenour</a:t>
            </a:r>
            <a:endParaRPr dirty="0"/>
          </a:p>
          <a:p>
            <a:r>
              <a:rPr dirty="0"/>
              <a:t>Parameter Changed: Added third Conv2D layer</a:t>
            </a:r>
          </a:p>
          <a:p>
            <a:endParaRPr dirty="0"/>
          </a:p>
          <a:p>
            <a:r>
              <a:rPr dirty="0"/>
              <a:t>Hypothesis:</a:t>
            </a:r>
          </a:p>
          <a:p>
            <a:r>
              <a:rPr dirty="0"/>
              <a:t>Additional convolution layers allow the network to detect</a:t>
            </a:r>
            <a:r>
              <a:rPr lang="en-US" dirty="0"/>
              <a:t> </a:t>
            </a:r>
            <a:r>
              <a:rPr dirty="0"/>
              <a:t>more complex image patterns.</a:t>
            </a:r>
          </a:p>
          <a:p>
            <a:endParaRPr dirty="0"/>
          </a:p>
          <a:p>
            <a:r>
              <a:rPr dirty="0"/>
              <a:t>Results:</a:t>
            </a:r>
          </a:p>
          <a:p>
            <a:r>
              <a:rPr dirty="0"/>
              <a:t>Accuracy: </a:t>
            </a:r>
            <a:r>
              <a:rPr lang="en-US" dirty="0"/>
              <a:t>0.9871 </a:t>
            </a:r>
          </a:p>
          <a:p>
            <a:r>
              <a:rPr dirty="0"/>
              <a:t>Observation: </a:t>
            </a:r>
            <a:r>
              <a:rPr lang="en-US"/>
              <a:t>Decrease accuracy of </a:t>
            </a:r>
            <a:r>
              <a:rPr lang="en-US" dirty="0"/>
              <a:t>0.0012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Final Model Comparison and Key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dirty="0"/>
              <a:t>Model Comparison:</a:t>
            </a:r>
          </a:p>
          <a:p>
            <a:r>
              <a:rPr dirty="0"/>
              <a:t>Baseline Model –</a:t>
            </a:r>
            <a:r>
              <a:rPr lang="en-US" dirty="0"/>
              <a:t> 0.9883</a:t>
            </a:r>
          </a:p>
          <a:p>
            <a:r>
              <a:rPr lang="en-US" dirty="0"/>
              <a:t>Variation 1 – Increased Filters: </a:t>
            </a:r>
            <a:r>
              <a:rPr lang="en-US" dirty="0">
                <a:highlight>
                  <a:srgbClr val="FFFF00"/>
                </a:highlight>
              </a:rPr>
              <a:t>(Insert accuracy)</a:t>
            </a:r>
          </a:p>
          <a:p>
            <a:r>
              <a:rPr dirty="0"/>
              <a:t>Variation 2 – Dropout: </a:t>
            </a:r>
            <a:r>
              <a:rPr dirty="0">
                <a:highlight>
                  <a:srgbClr val="FFFF00"/>
                </a:highlight>
              </a:rPr>
              <a:t>(Insert accuracy)</a:t>
            </a:r>
          </a:p>
          <a:p>
            <a:r>
              <a:rPr dirty="0"/>
              <a:t>Variation 3 – More Epochs: </a:t>
            </a:r>
            <a:r>
              <a:rPr dirty="0">
                <a:highlight>
                  <a:srgbClr val="FFFF00"/>
                </a:highlight>
              </a:rPr>
              <a:t>(Insert accuracy)</a:t>
            </a:r>
          </a:p>
          <a:p>
            <a:r>
              <a:rPr dirty="0"/>
              <a:t>Variation 4 – SGD Optimizer: </a:t>
            </a:r>
            <a:r>
              <a:rPr dirty="0">
                <a:highlight>
                  <a:srgbClr val="FFFF00"/>
                </a:highlight>
              </a:rPr>
              <a:t>(Insert accuracy)</a:t>
            </a:r>
          </a:p>
          <a:p>
            <a:r>
              <a:rPr dirty="0"/>
              <a:t>Variation 5 – Extra Conv Layer: </a:t>
            </a:r>
            <a:r>
              <a:rPr lang="en-US" dirty="0"/>
              <a:t>0.9871</a:t>
            </a:r>
            <a:endParaRPr dirty="0"/>
          </a:p>
          <a:p>
            <a:endParaRPr dirty="0"/>
          </a:p>
          <a:p>
            <a:r>
              <a:rPr dirty="0"/>
              <a:t>Key Findings:</a:t>
            </a:r>
          </a:p>
          <a:p>
            <a:r>
              <a:rPr dirty="0"/>
              <a:t>- Increasing model complexity improved feature detection.</a:t>
            </a:r>
          </a:p>
          <a:p>
            <a:r>
              <a:rPr dirty="0"/>
              <a:t>- Dropout helped reduce overfitting.</a:t>
            </a:r>
          </a:p>
          <a:p>
            <a:r>
              <a:rPr dirty="0"/>
              <a:t>- Additional epochs improved learning but increased training time.</a:t>
            </a:r>
          </a:p>
          <a:p>
            <a:r>
              <a:rPr dirty="0"/>
              <a:t>- Different optimizers affected training speed and stability.</a:t>
            </a:r>
          </a:p>
          <a:p>
            <a:endParaRPr dirty="0"/>
          </a:p>
          <a:p>
            <a:r>
              <a:rPr dirty="0"/>
              <a:t>Conclusion:</a:t>
            </a:r>
          </a:p>
          <a:p>
            <a:r>
              <a:rPr dirty="0"/>
              <a:t>CNN performance is highly dependent on parameter tuning. Balancing model complexity, accuracy, and training time is essential.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Lessons Learned and Future Improvements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t>Lessons Learned:</a:t>
            </a:r>
          </a:p>
          <a:p>
            <a:r>
              <a:t>- CNNs are effective for image classification tasks.</a:t>
            </a:r>
          </a:p>
          <a:p>
            <a:r>
              <a:t>- Small parameter changes can significantly impact performance.</a:t>
            </a:r>
          </a:p>
          <a:p>
            <a:r>
              <a:t>- Proper tuning improves both accuracy and model generalization.</a:t>
            </a:r>
          </a:p>
          <a:p>
            <a:endParaRPr/>
          </a:p>
          <a:p>
            <a:r>
              <a:t>Future Improvements:</a:t>
            </a:r>
          </a:p>
          <a:p>
            <a:r>
              <a:t>- Experiment with deeper CNN architectures</a:t>
            </a:r>
          </a:p>
          <a:p>
            <a:r>
              <a:t>- Use data augmentation techniques</a:t>
            </a:r>
          </a:p>
          <a:p>
            <a:r>
              <a:t>- Try different optimizers and learning rates</a:t>
            </a:r>
          </a:p>
          <a:p>
            <a:r>
              <a:t>- Train for additional epochs with early stopping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503</Words>
  <Application>Microsoft Office PowerPoint</Application>
  <PresentationFormat>On-screen Show (4:3)</PresentationFormat>
  <Paragraphs>106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CNN MNIST Model Variations and Comparison</vt:lpstr>
      <vt:lpstr>Baseline CNN Model</vt:lpstr>
      <vt:lpstr>Variation 1 – Increased Filters</vt:lpstr>
      <vt:lpstr>Variation 2 – Dropout Layer Added</vt:lpstr>
      <vt:lpstr>Variation 3 – Increased Epochs</vt:lpstr>
      <vt:lpstr>Variation 4 – Optimizer Changed</vt:lpstr>
      <vt:lpstr>Variation 5 – Additional Convolution Layer</vt:lpstr>
      <vt:lpstr>Final Model Comparison and Key Findings</vt:lpstr>
      <vt:lpstr>Lessons Learned and Future Improvements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Jamie Ridenour</dc:creator>
  <cp:keywords/>
  <dc:description>generated using python-pptx</dc:description>
  <cp:lastModifiedBy>Jamie Ridenour</cp:lastModifiedBy>
  <cp:revision>8</cp:revision>
  <dcterms:created xsi:type="dcterms:W3CDTF">2013-01-27T09:14:16Z</dcterms:created>
  <dcterms:modified xsi:type="dcterms:W3CDTF">2026-03-05T19:07:25Z</dcterms:modified>
  <cp:category/>
</cp:coreProperties>
</file>